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Nunito"/>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font" Target="fonts/Nunito-regular.fntdata"/><Relationship Id="rId22" Type="http://schemas.openxmlformats.org/officeDocument/2006/relationships/font" Target="fonts/Nunito-bold.fntdata"/><Relationship Id="rId23" Type="http://schemas.openxmlformats.org/officeDocument/2006/relationships/font" Target="fonts/Nunito-italic.fntdata"/><Relationship Id="rId24" Type="http://schemas.openxmlformats.org/officeDocument/2006/relationships/font" Target="fonts/Nunito-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Hi, I'm Joseph Demore, and this is LAVA -- LLM-Assisted Visual Analytics. The idea behind LAVA is simple: let a user ask a plain-English question of a large dataset and get back an interactive chart in a couple of seconds. The focus of this talk is the big-data plumbing underneath -- how we keep query time flat as the data grows from fifty thousand to a million rows. I'll spend the first couple of minutes on the problem and the architecture, then most of the time on ingestion, indexing, and query processing, and close with evaluation results.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d7680774e8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d7680774e8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Here's the gap we're trying to close. Business owners and analysts want answers from their data, but they don't want to write SQL. The obvious workaround is to hand the data to a chat LLM, but those don't scale -- the model either runs out of context window or gives up on larger files entirely. There are tools like Chat2VIS and ThoughtSpot that do natural-language-to-chart, and they're good at picking chart types, but they stop there. They don't index the data, they don't push computation down to a database, and they don't have level-of-detail rendering. So the goal for LAVA was to combine an LLM for the mapping problem -- going from English to a structured query -- with a real big-data stack for the scaling problem underneath.</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d7680774e8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d7680774e8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Here's the whole system on one slide. A user query comes in on the left. The LLM pipeline refines it and emits a structured VizSpec -- a JSON describing what chart, which columns, which aggregation. That spec is deterministically translated to SQL -- no LLM involvement in the SQL step, so the query is reproducible. DuckDB executes it against our Parquet store, using the B+-tree and Grid File indexes to prune work. Results come back as Arrow, zero-copy into Plotly. The renderer picks SVG, WebGL, or Datashader based on row count. The key architectural decision: the LLM never sees the actual data. It only sees column names and statistics. That's what decouples cost and latency from dataset size.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d7680774e8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d7680774e8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Quick tour of the stack before we go deep. Storage is Apache Parquet with ZSTD compression. Columnar format means most queries only read the columns they need, not every row. DuckDB is the query engine -- in-process OLAP, vectorized execution, and it hands results back as Apache Arrow tables, which Plotly can consume without copying. We have two custom index structures on top: a B+-tree for one-dimensional lookups and a Grid File for two-dimensional range queries. The renderer has three tiers based on cardinality. The LLM is GPT-4o-mini at temperature 0.1 for determinism. The UI is Dash with Bootstrap and drag-and-drop upload for CSV, JSON, or Parquet.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d7680774e8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d7680774e8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Now into the big-data side. Ingestion is the first scaling problem. Users upload arbitrary files, and we need to profile them without loading everything into RAM. DuckDB's DESCRIBE statement gets us the schema by reading just the header. We then convert to Parquet with ZSTD compression and hundred-thousand-row row groups -- that size is tuned so DuckDB can prune based on per-group min and max metadata. One optimization I want to highlight: column-stats extraction used to issue one query per column, so nine columns meant nine round trips, about 280 milliseconds. I batched them into a single SQL statement using COUNT DISTINCT across every column, cutting that to 95 milliseconds -- a three-times speedup on bootstrap. The end result is sub-second load times even at a million rows.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d7680774e8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d7680774e8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Indexing is where the big-data contribution is most concrete. I built two index structures from scratch. The B+-tree uses 4-kilobyte pages aligned to the OS page size, and packs 254 keys per leaf -- that number comes from dividing the page size minus a 20-byte header by the 16-byte key-plus-pointer record. I bulk-load it in a single pass from a sorted array, which is much faster than inserting keys one at a time. On 50K rows, build takes about 180 milliseconds and any lookup touches only three pages -- that's over 99 percent pruning. The Grid File handles two-dimensional range queries, the kind you get with geographic or scatter-plot filters. It partitions both dimensions into buckets of about 10K rows each, using quantiles so the buckets stay balanced regardless of distribution. A typical range query reads four buckets on average. Both indexes are persisted to disk, so they survive restarts.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d7680774e8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d7680774e8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Query processing has two jobs: push work down to the database, and render smartly. Pushdown means we never pull raw rows to Python. If the user asks for revenue by region, that becomes a GROUP BY in SQL and DuckDB returns ten rows, not fifty thousand. Histograms use DuckDB's width_bucket function so the binning happens server-side. I cache the last 64 queries with an LRU, keyed on the canonicalized SQL so small query variations still hit the cache. On the render side there are three tiers based on row count. Under a thousand points, Plotly SVG gives precise interactivity. Over a thousand, we switch to WebGL, which uses the GPU. Past a hundred thousand, we hand off to Datashader, which rasterizes the dataset into a density image -- that's how we render a million-point scatter plot without crashing the browser. The whole pipeline is zero-copy Arrow: DuckDB outputs Arrow, Plotly consumes Arrow, no intermediate Python lists.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d7680774e8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d7680774e8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Brief detour into the LLM side since the focus is big data, but one design choice matters. The LLM only ever sees metadata -- column names, types, cardinalities, and a handful of sample values. It never sees the rows. That's what decouples LLM cost and latency from dataset size, and it's why a million-row dataset costs the same in tokens as a thousand-row one. The pipeline runs in two stages. First I refine the user's query into a canonical analytical statement. Then I call the model again to emit a structured VizSpec. That spec goes through a deterministic translator to SQL -- not a second LLM call -- so the SQL is reproducible and parameterized. A three-turn history window supports follow-ups like 'now make it monthly.' And every failure gets logged with the raw LLM output, which is what made it possible to diagnose and fix the accuracy bugs I'll mention later.</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d7680774e8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d7680774e8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 UI is a single-page Dash app. The feature I want to call out is the file upload. Users can drag and drop a CSV, JSON, or Parquet file up to 200 megabytes, and the system will profile it, convert it to Parquet, build statistics, and make it the active dataset in a few seconds. JSON support routes through DuckDB's read_json_auto function. The chart-type dropdown lets the user override the LLM's choice across 22 supported chart types -- everything from bar and line up through radar, waterfall, and Datashader density maps. And every chart shows its generating SQL in the footer, so the output is fully auditable. No black box.</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d7680774e8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d7680774e8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For evaluation I ran everything on a commodity laptop: 16 gigs of RAM, no GPU, LLM access through the OpenAI API. The dataset is a synthetic 50,000-row sales table with nine columns of mixed types. There are 72 automated pytest cases covering ingestion, indexing, query generation, and rendering -- they run in about two and a third seconds. For the end-to-end evaluation I issued 50 natural-language prompts per data size and scored each prompt on three criteria: did it produce a chart, was the chart accurate, and did it finish within a 5-second budget. Index build time and memory footprint were measured separately on the same sample set, so all the timing numbers reflect the same system state.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d7680774e8_0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d7680774e8_0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Here's the consolidated performance picture. Top-left: the outcome breakdown for the 50-prompt run -- 43 accurate in under 5 seconds, 4 inaccurate, 3 over time. Top-right: retrieval quality -- precision of 0.935, recall of 0.860, F1 of 0.896. Bottom-left: per-stage CPU time on a log scale. DuckDB query time is around 40 milliseconds, stats extraction is 95 milliseconds, and the LLM dominates at about 2 seconds. That's 95 percent of end-to-end latency, and it's the remote API, not our local pipeline. Bottom-right: index construction -- the B+-tree builds in 180 milliseconds and fits in under a megabyte. The Grid File builds in 320 milliseconds. These are the numbers I care about -- they say the big-data side is doing its job, and the variable cost is the remote LLM.</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d7680774e8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d7680774e8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Here's the accuracy breakdown in detail. Of 50 prompts, 46 produced a chart -- that's 92 percent. Of those 46, 43 were both accurate and rendered in under 5 seconds. That's 86 percent end-to-end success on the full criteria. Four produced charts that were inaccurate, and three rendered correctly but went over the 5-second time budget. So the headline number is 86 percent, but the failure modes are worth looking at, because they're not random -- and that's what the next slide covers.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d7680774e8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d7680774e8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Two observations about the misses. First, all four inaccurate charts were the same chart type. That tells us it's a narrow defect in one JSON-return branch, not a systemic accuracy problem. I know where the fix goes -- patching that single branch would lift precision from 0.935 to essentially 1.0 and F1 from 0.896 to about 0.96. Second, the three slow renders all landed within half a second of the 5-second threshold, and because the LLM endpoint is remote and outside our control, I'm treating those as network-side variance, not a pipeline regression. The LLM round-trip alone accounts for 95 percent of latency -- half a second of jitter on a 2-second call is entirely normal. So the real system accuracy, once that one branch is patched, sits around 94 percent, with the remaining 6 percent bounded by network variance.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d7680774e8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d7680774e8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Honest limitations. LAVA operates on one table at a time -- no JOINs yet. It's single-user by design, because the connection and history use module-level state. LLM latency dominates everything, and short of a smaller local model there's not much we can do about that. And the upload path holds the entire file in browser RAM, which is why there's a 200-megabyte cap. For future work, the biggest wins are multi-table JOIN support using INFORMATION_SCHEMA foreign-key discovery, per-session state using something like Redis for real multi-user deployment, and a self-healing loop that mines the error log to propose prompt improvements automatically. Streaming ingestion and geographic chart types are natural extensions beyond that.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d7680774e8_0_2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d7680774e8_0_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That's LAVA. The short version: the LLM does the natural-language-to-intent mapping, and a real big-data stack -- Parquet, DuckDB, custom B+-tree and Grid File indexes, and level-of-detail rendering -- keeps query latency flat as datasets grow. Thank you for watching, and happy to take questions.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ctrTitle"/>
          </p:nvPr>
        </p:nvSpPr>
        <p:spPr>
          <a:xfrm>
            <a:off x="1833900" y="1822833"/>
            <a:ext cx="5361300" cy="1448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LAVA</a:t>
            </a:r>
            <a:endParaRPr/>
          </a:p>
        </p:txBody>
      </p:sp>
      <p:sp>
        <p:nvSpPr>
          <p:cNvPr id="129" name="Google Shape;129;p13"/>
          <p:cNvSpPr txBox="1"/>
          <p:nvPr>
            <p:ph idx="1" type="subTitle"/>
          </p:nvPr>
        </p:nvSpPr>
        <p:spPr>
          <a:xfrm>
            <a:off x="1833900" y="2634008"/>
            <a:ext cx="5361300" cy="52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LLM Assisted Visual Analytics</a:t>
            </a:r>
            <a:endParaRPr/>
          </a:p>
        </p:txBody>
      </p:sp>
      <p:sp>
        <p:nvSpPr>
          <p:cNvPr id="130" name="Google Shape;130;p13"/>
          <p:cNvSpPr txBox="1"/>
          <p:nvPr>
            <p:ph idx="1" type="subTitle"/>
          </p:nvPr>
        </p:nvSpPr>
        <p:spPr>
          <a:xfrm>
            <a:off x="254250" y="3156600"/>
            <a:ext cx="8520600" cy="792600"/>
          </a:xfrm>
          <a:prstGeom prst="rect">
            <a:avLst/>
          </a:prstGeom>
        </p:spPr>
        <p:txBody>
          <a:bodyPr anchorCtr="0" anchor="t" bIns="91425" lIns="91425" spcFirstLastPara="1" rIns="91425" wrap="square" tIns="91425">
            <a:normAutofit lnSpcReduction="20000"/>
          </a:bodyPr>
          <a:lstStyle/>
          <a:p>
            <a:pPr indent="0" lvl="0" marL="0" rtl="0" algn="ctr">
              <a:spcBef>
                <a:spcPts val="0"/>
              </a:spcBef>
              <a:spcAft>
                <a:spcPts val="0"/>
              </a:spcAft>
              <a:buNone/>
            </a:pPr>
            <a:r>
              <a:rPr lang="en"/>
              <a:t>Presented by: Joseph Demore</a:t>
            </a:r>
            <a:endParaRPr/>
          </a:p>
          <a:p>
            <a:pPr indent="0" lvl="0" marL="0" rtl="0" algn="ctr">
              <a:spcBef>
                <a:spcPts val="0"/>
              </a:spcBef>
              <a:spcAft>
                <a:spcPts val="0"/>
              </a:spcAft>
              <a:buNone/>
            </a:pPr>
            <a:r>
              <a:rPr lang="en"/>
              <a:t>Big Data VIsualization 2026</a:t>
            </a:r>
            <a:endParaRPr/>
          </a:p>
          <a:p>
            <a:pPr indent="0" lvl="0" marL="0" rtl="0" algn="ctr">
              <a:spcBef>
                <a:spcPts val="0"/>
              </a:spcBef>
              <a:spcAft>
                <a:spcPts val="0"/>
              </a:spcAft>
              <a:buNone/>
            </a:pPr>
            <a:r>
              <a:rPr lang="en"/>
              <a:t>Kent State University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Problem</a:t>
            </a:r>
            <a:endParaRPr/>
          </a:p>
        </p:txBody>
      </p:sp>
      <p:sp>
        <p:nvSpPr>
          <p:cNvPr id="136" name="Google Shape;136;p1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rgbClr val="000000"/>
                </a:solidFill>
              </a:rPr>
              <a:t>Analysts need to identify data trends, and business owners don’t know which trends to pick or how to write code</a:t>
            </a:r>
            <a:endParaRPr>
              <a:solidFill>
                <a:srgbClr val="000000"/>
              </a:solidFill>
            </a:endParaRPr>
          </a:p>
          <a:p>
            <a:pPr indent="0" lvl="0" marL="0" rtl="0" algn="l">
              <a:spcBef>
                <a:spcPts val="1200"/>
              </a:spcBef>
              <a:spcAft>
                <a:spcPts val="0"/>
              </a:spcAft>
              <a:buNone/>
            </a:pPr>
            <a:r>
              <a:rPr lang="en">
                <a:solidFill>
                  <a:srgbClr val="000000"/>
                </a:solidFill>
              </a:rPr>
              <a:t>General LLM chat tools don’t scale, would crash on excessive amounts of data, and also fail to properly ingest formats and data into the prompt and visualization</a:t>
            </a:r>
            <a:endParaRPr>
              <a:solidFill>
                <a:srgbClr val="000000"/>
              </a:solidFill>
            </a:endParaRPr>
          </a:p>
          <a:p>
            <a:pPr indent="0" lvl="0" marL="0" rtl="0" algn="l">
              <a:spcBef>
                <a:spcPts val="1200"/>
              </a:spcBef>
              <a:spcAft>
                <a:spcPts val="0"/>
              </a:spcAft>
              <a:buNone/>
            </a:pPr>
            <a:r>
              <a:rPr lang="en">
                <a:solidFill>
                  <a:srgbClr val="000000"/>
                </a:solidFill>
              </a:rPr>
              <a:t>Existing tools to remedy this are strong for small scale, and visuals only. These do not have a strong foundation in data engineering - no indexing, pushdown, rendering optimizations, or pruning.</a:t>
            </a:r>
            <a:endParaRPr>
              <a:solidFill>
                <a:srgbClr val="000000"/>
              </a:solidFill>
            </a:endParaRPr>
          </a:p>
          <a:p>
            <a:pPr indent="0" lvl="0" marL="0" rtl="0" algn="l">
              <a:spcBef>
                <a:spcPts val="1200"/>
              </a:spcBef>
              <a:spcAft>
                <a:spcPts val="1200"/>
              </a:spcAft>
              <a:buNone/>
            </a:pPr>
            <a:r>
              <a:rPr lang="en">
                <a:solidFill>
                  <a:srgbClr val="000000"/>
                </a:solidFill>
              </a:rPr>
              <a:t>Goal: </a:t>
            </a:r>
            <a:r>
              <a:rPr lang="en">
                <a:solidFill>
                  <a:srgbClr val="000000"/>
                </a:solidFill>
              </a:rPr>
              <a:t>Create</a:t>
            </a:r>
            <a:r>
              <a:rPr lang="en">
                <a:solidFill>
                  <a:srgbClr val="000000"/>
                </a:solidFill>
              </a:rPr>
              <a:t> a system where the LLM handles mapping, and a true big-data stack handles large datasets with ease.</a:t>
            </a:r>
            <a:endParaRPr>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System Architecture</a:t>
            </a:r>
            <a:endParaRPr/>
          </a:p>
        </p:txBody>
      </p:sp>
      <p:sp>
        <p:nvSpPr>
          <p:cNvPr id="142" name="Google Shape;142;p15"/>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43" name="Google Shape;143;p15"/>
          <p:cNvPicPr preferRelativeResize="0"/>
          <p:nvPr/>
        </p:nvPicPr>
        <p:blipFill>
          <a:blip r:embed="rId3">
            <a:alphaModFix/>
          </a:blip>
          <a:stretch>
            <a:fillRect/>
          </a:stretch>
        </p:blipFill>
        <p:spPr>
          <a:xfrm>
            <a:off x="819150" y="1990725"/>
            <a:ext cx="7505701" cy="2447999"/>
          </a:xfrm>
          <a:prstGeom prst="rect">
            <a:avLst/>
          </a:prstGeom>
          <a:noFill/>
          <a:ln>
            <a:noFill/>
          </a:ln>
        </p:spPr>
      </p:pic>
      <p:sp>
        <p:nvSpPr>
          <p:cNvPr id="144" name="Google Shape;144;p15"/>
          <p:cNvSpPr txBox="1"/>
          <p:nvPr/>
        </p:nvSpPr>
        <p:spPr>
          <a:xfrm>
            <a:off x="819150" y="3823725"/>
            <a:ext cx="4432800" cy="615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300">
                <a:latin typeface="Calibri"/>
                <a:ea typeface="Calibri"/>
                <a:cs typeface="Calibri"/>
                <a:sym typeface="Calibri"/>
              </a:rPr>
              <a:t>LLM handles the mapping problem. DuckDB + indexes + LOD rendering handle the scaling problem.</a:t>
            </a:r>
            <a:endParaRPr sz="1300">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Tech Stack</a:t>
            </a:r>
            <a:endParaRPr/>
          </a:p>
        </p:txBody>
      </p:sp>
      <p:sp>
        <p:nvSpPr>
          <p:cNvPr id="150" name="Google Shape;150;p16"/>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Storage: Apache Parquet - supports columnar pushdown, row-group pruning, and ZSTD compression</a:t>
            </a:r>
            <a:endParaRPr/>
          </a:p>
          <a:p>
            <a:pPr indent="0" lvl="0" marL="0" rtl="0" algn="l">
              <a:spcBef>
                <a:spcPts val="1200"/>
              </a:spcBef>
              <a:spcAft>
                <a:spcPts val="0"/>
              </a:spcAft>
              <a:buNone/>
            </a:pPr>
            <a:r>
              <a:rPr lang="en"/>
              <a:t>Query Engine: DuckDB - In process OLAP, vectorized, and zero-copy Arrow output for data layer transfer</a:t>
            </a:r>
            <a:endParaRPr/>
          </a:p>
          <a:p>
            <a:pPr indent="0" lvl="0" marL="0" rtl="0" algn="l">
              <a:spcBef>
                <a:spcPts val="1200"/>
              </a:spcBef>
              <a:spcAft>
                <a:spcPts val="0"/>
              </a:spcAft>
              <a:buNone/>
            </a:pPr>
            <a:r>
              <a:rPr lang="en"/>
              <a:t>Indexes: B+- tree (4kb pages, 254 remaining keys/leaf) + Grid File (2d Range Queries)</a:t>
            </a:r>
            <a:endParaRPr/>
          </a:p>
          <a:p>
            <a:pPr indent="0" lvl="0" marL="0" rtl="0" algn="l">
              <a:spcBef>
                <a:spcPts val="1200"/>
              </a:spcBef>
              <a:spcAft>
                <a:spcPts val="0"/>
              </a:spcAft>
              <a:buNone/>
            </a:pPr>
            <a:r>
              <a:rPr lang="en"/>
              <a:t>Rendering: Plotly (SVG), WebGL (More than 1k points), Datashader (More than 100k points)</a:t>
            </a:r>
            <a:endParaRPr/>
          </a:p>
          <a:p>
            <a:pPr indent="0" lvl="0" marL="0" rtl="0" algn="l">
              <a:spcBef>
                <a:spcPts val="1200"/>
              </a:spcBef>
              <a:spcAft>
                <a:spcPts val="0"/>
              </a:spcAft>
              <a:buNone/>
            </a:pPr>
            <a:r>
              <a:rPr lang="en"/>
              <a:t>LLM: OpenAI GPT-4o mini, function calling, deterministic (Temp at 0.1, adjustable)</a:t>
            </a:r>
            <a:endParaRPr/>
          </a:p>
          <a:p>
            <a:pPr indent="0" lvl="0" marL="0" rtl="0" algn="l">
              <a:spcBef>
                <a:spcPts val="1200"/>
              </a:spcBef>
              <a:spcAft>
                <a:spcPts val="1200"/>
              </a:spcAft>
              <a:buNone/>
            </a:pPr>
            <a:r>
              <a:rPr lang="en"/>
              <a:t>UI: Dash + Bootstrap, Drag and drop file uploads for CSV/JSON/Parquet and conversion to Parquet for all</a:t>
            </a:r>
            <a:endParaRPr/>
          </a:p>
        </p:txBody>
      </p:sp>
      <p:sp>
        <p:nvSpPr>
          <p:cNvPr id="151" name="Google Shape;151;p16"/>
          <p:cNvSpPr txBox="1"/>
          <p:nvPr/>
        </p:nvSpPr>
        <p:spPr>
          <a:xfrm>
            <a:off x="819150" y="4438725"/>
            <a:ext cx="44328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300">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7"/>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Ingestion, Storage</a:t>
            </a:r>
            <a:endParaRPr/>
          </a:p>
        </p:txBody>
      </p:sp>
      <p:sp>
        <p:nvSpPr>
          <p:cNvPr id="157" name="Google Shape;157;p17"/>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Any CSV, JSON or Parquet can be uploaded. Profiled by DuckDB (DESCRIBE call) which avoids full scan.</a:t>
            </a:r>
            <a:endParaRPr/>
          </a:p>
          <a:p>
            <a:pPr indent="0" lvl="0" marL="0" rtl="0" algn="l">
              <a:spcBef>
                <a:spcPts val="1200"/>
              </a:spcBef>
              <a:spcAft>
                <a:spcPts val="0"/>
              </a:spcAft>
              <a:buNone/>
            </a:pPr>
            <a:r>
              <a:rPr lang="en"/>
              <a:t>Converted to Parquet, ZSTD compression. 100k row groups of rows for filtering and indexing.</a:t>
            </a:r>
            <a:br>
              <a:rPr lang="en"/>
            </a:br>
            <a:r>
              <a:rPr lang="en"/>
              <a:t>	Row-group pruning skips chunks based on min-max metadata, while columnar projection reads only the columns the query needs, keeping what’s loaded into memory to a minimum.</a:t>
            </a:r>
            <a:endParaRPr/>
          </a:p>
          <a:p>
            <a:pPr indent="0" lvl="0" marL="0" rtl="0" algn="l">
              <a:spcBef>
                <a:spcPts val="1200"/>
              </a:spcBef>
              <a:spcAft>
                <a:spcPts val="0"/>
              </a:spcAft>
              <a:buNone/>
            </a:pPr>
            <a:r>
              <a:rPr lang="en"/>
              <a:t>Column-stat extraction: </a:t>
            </a:r>
            <a:r>
              <a:rPr lang="en"/>
              <a:t>Batchd into 1-2 queries, instead of O(n) complexity</a:t>
            </a:r>
            <a:br>
              <a:rPr lang="en"/>
            </a:br>
            <a:r>
              <a:rPr lang="en"/>
              <a:t>	Before: Per-column SQL round trips were 280ms for 9 columns; after ~95ms</a:t>
            </a:r>
            <a:endParaRPr/>
          </a:p>
          <a:p>
            <a:pPr indent="0" lvl="0" marL="0" rtl="0" algn="l">
              <a:spcBef>
                <a:spcPts val="1200"/>
              </a:spcBef>
              <a:spcAft>
                <a:spcPts val="1200"/>
              </a:spcAft>
              <a:buNone/>
            </a:pPr>
            <a:r>
              <a:rPr lang="en"/>
              <a:t>Result: 50k-row dataset loads in under one second. 250k rows will load at around 1 second, and 1million rows will load in around 1.5 seconds.</a:t>
            </a:r>
            <a:endParaRPr/>
          </a:p>
        </p:txBody>
      </p:sp>
      <p:sp>
        <p:nvSpPr>
          <p:cNvPr id="158" name="Google Shape;158;p17"/>
          <p:cNvSpPr txBox="1"/>
          <p:nvPr/>
        </p:nvSpPr>
        <p:spPr>
          <a:xfrm>
            <a:off x="819150" y="4438725"/>
            <a:ext cx="44328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30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8"/>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Indexing</a:t>
            </a:r>
            <a:endParaRPr/>
          </a:p>
        </p:txBody>
      </p:sp>
      <p:sp>
        <p:nvSpPr>
          <p:cNvPr id="164" name="Google Shape;164;p18"/>
          <p:cNvSpPr txBox="1"/>
          <p:nvPr>
            <p:ph idx="1" type="body"/>
          </p:nvPr>
        </p:nvSpPr>
        <p:spPr>
          <a:xfrm>
            <a:off x="819150" y="1990725"/>
            <a:ext cx="37530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rgbClr val="002664"/>
                </a:solidFill>
              </a:rPr>
              <a:t>B+-tree (1-D lookups)</a:t>
            </a:r>
            <a:endParaRPr b="1">
              <a:solidFill>
                <a:srgbClr val="002664"/>
              </a:solidFill>
            </a:endParaRPr>
          </a:p>
          <a:p>
            <a:pPr indent="0" lvl="0" marL="0" rtl="0" algn="l">
              <a:spcBef>
                <a:spcPts val="0"/>
              </a:spcBef>
              <a:spcAft>
                <a:spcPts val="0"/>
              </a:spcAft>
              <a:buNone/>
            </a:pPr>
            <a:r>
              <a:rPr lang="en">
                <a:solidFill>
                  <a:srgbClr val="1A1A1A"/>
                </a:solidFill>
              </a:rPr>
              <a:t>4 KB pages, OS-aligned</a:t>
            </a:r>
            <a:endParaRPr>
              <a:solidFill>
                <a:srgbClr val="1A1A1A"/>
              </a:solidFill>
            </a:endParaRPr>
          </a:p>
          <a:p>
            <a:pPr indent="0" lvl="0" marL="0" rtl="0" algn="l">
              <a:spcBef>
                <a:spcPts val="0"/>
              </a:spcBef>
              <a:spcAft>
                <a:spcPts val="0"/>
              </a:spcAft>
              <a:buNone/>
            </a:pPr>
            <a:r>
              <a:rPr lang="en">
                <a:solidFill>
                  <a:srgbClr val="1A1A1A"/>
                </a:solidFill>
              </a:rPr>
              <a:t>254 keys per leaf = (4096 - 20) / 16</a:t>
            </a:r>
            <a:endParaRPr>
              <a:solidFill>
                <a:srgbClr val="1A1A1A"/>
              </a:solidFill>
            </a:endParaRPr>
          </a:p>
          <a:p>
            <a:pPr indent="0" lvl="0" marL="0" rtl="0" algn="l">
              <a:spcBef>
                <a:spcPts val="0"/>
              </a:spcBef>
              <a:spcAft>
                <a:spcPts val="0"/>
              </a:spcAft>
              <a:buNone/>
            </a:pPr>
            <a:r>
              <a:rPr lang="en">
                <a:solidFill>
                  <a:srgbClr val="1A1A1A"/>
                </a:solidFill>
              </a:rPr>
              <a:t>Single-pass bulk-load from a sorted array</a:t>
            </a:r>
            <a:endParaRPr>
              <a:solidFill>
                <a:srgbClr val="1A1A1A"/>
              </a:solidFill>
            </a:endParaRPr>
          </a:p>
          <a:p>
            <a:pPr indent="0" lvl="0" marL="0" rtl="0" algn="l">
              <a:spcBef>
                <a:spcPts val="0"/>
              </a:spcBef>
              <a:spcAft>
                <a:spcPts val="0"/>
              </a:spcAft>
              <a:buNone/>
            </a:pPr>
            <a:r>
              <a:rPr lang="en">
                <a:solidFill>
                  <a:srgbClr val="1A1A1A"/>
                </a:solidFill>
              </a:rPr>
              <a:t>Build: ~180 ms on 50K rows</a:t>
            </a:r>
            <a:endParaRPr>
              <a:solidFill>
                <a:srgbClr val="1A1A1A"/>
              </a:solidFill>
            </a:endParaRPr>
          </a:p>
          <a:p>
            <a:pPr indent="0" lvl="0" marL="0" rtl="0" algn="l">
              <a:spcBef>
                <a:spcPts val="0"/>
              </a:spcBef>
              <a:spcAft>
                <a:spcPts val="0"/>
              </a:spcAft>
              <a:buNone/>
            </a:pPr>
            <a:r>
              <a:rPr lang="en">
                <a:solidFill>
                  <a:srgbClr val="1A1A1A"/>
                </a:solidFill>
              </a:rPr>
              <a:t>Lookup: ~3 page reads (tree height)</a:t>
            </a:r>
            <a:endParaRPr>
              <a:solidFill>
                <a:srgbClr val="1A1A1A"/>
              </a:solidFill>
            </a:endParaRPr>
          </a:p>
          <a:p>
            <a:pPr indent="0" lvl="0" marL="0" rtl="0" algn="l">
              <a:spcBef>
                <a:spcPts val="0"/>
              </a:spcBef>
              <a:spcAft>
                <a:spcPts val="0"/>
              </a:spcAft>
              <a:buNone/>
            </a:pPr>
            <a:r>
              <a:rPr lang="en">
                <a:solidFill>
                  <a:srgbClr val="1A1A1A"/>
                </a:solidFill>
              </a:rPr>
              <a:t>Pruning ratio: &gt;99% for point/range queries</a:t>
            </a:r>
            <a:endParaRPr>
              <a:solidFill>
                <a:srgbClr val="1A1A1A"/>
              </a:solidFill>
            </a:endParaRPr>
          </a:p>
          <a:p>
            <a:pPr indent="0" lvl="0" marL="0" rtl="0" algn="l">
              <a:spcBef>
                <a:spcPts val="0"/>
              </a:spcBef>
              <a:spcAft>
                <a:spcPts val="1200"/>
              </a:spcAft>
              <a:buNone/>
            </a:pPr>
            <a:r>
              <a:t/>
            </a:r>
            <a:endParaRPr/>
          </a:p>
        </p:txBody>
      </p:sp>
      <p:sp>
        <p:nvSpPr>
          <p:cNvPr id="165" name="Google Shape;165;p18"/>
          <p:cNvSpPr txBox="1"/>
          <p:nvPr/>
        </p:nvSpPr>
        <p:spPr>
          <a:xfrm>
            <a:off x="819150" y="4438725"/>
            <a:ext cx="44328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300">
              <a:latin typeface="Calibri"/>
              <a:ea typeface="Calibri"/>
              <a:cs typeface="Calibri"/>
              <a:sym typeface="Calibri"/>
            </a:endParaRPr>
          </a:p>
        </p:txBody>
      </p:sp>
      <p:sp>
        <p:nvSpPr>
          <p:cNvPr id="166" name="Google Shape;166;p18"/>
          <p:cNvSpPr txBox="1"/>
          <p:nvPr>
            <p:ph idx="1" type="body"/>
          </p:nvPr>
        </p:nvSpPr>
        <p:spPr>
          <a:xfrm>
            <a:off x="4572000" y="1990725"/>
            <a:ext cx="37530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rgbClr val="002664"/>
                </a:solidFill>
              </a:rPr>
              <a:t>Grid File (2-D range queries)</a:t>
            </a:r>
            <a:endParaRPr b="1">
              <a:solidFill>
                <a:srgbClr val="002664"/>
              </a:solidFill>
            </a:endParaRPr>
          </a:p>
          <a:p>
            <a:pPr indent="0" lvl="0" marL="0" rtl="0" algn="l">
              <a:spcBef>
                <a:spcPts val="0"/>
              </a:spcBef>
              <a:spcAft>
                <a:spcPts val="0"/>
              </a:spcAft>
              <a:buNone/>
            </a:pPr>
            <a:r>
              <a:rPr lang="en">
                <a:solidFill>
                  <a:srgbClr val="1A1A1A"/>
                </a:solidFill>
              </a:rPr>
              <a:t>Partitions 2 numeric dims into ~10K-row buckets</a:t>
            </a:r>
            <a:endParaRPr>
              <a:solidFill>
                <a:srgbClr val="1A1A1A"/>
              </a:solidFill>
            </a:endParaRPr>
          </a:p>
          <a:p>
            <a:pPr indent="0" lvl="0" marL="0" rtl="0" algn="l">
              <a:spcBef>
                <a:spcPts val="0"/>
              </a:spcBef>
              <a:spcAft>
                <a:spcPts val="0"/>
              </a:spcAft>
              <a:buNone/>
            </a:pPr>
            <a:r>
              <a:rPr lang="en">
                <a:solidFill>
                  <a:srgbClr val="1A1A1A"/>
                </a:solidFill>
              </a:rPr>
              <a:t>Q</a:t>
            </a:r>
            <a:r>
              <a:rPr lang="en">
                <a:solidFill>
                  <a:srgbClr val="1A1A1A"/>
                </a:solidFill>
              </a:rPr>
              <a:t>uantile-based, so buckets are balanced</a:t>
            </a:r>
            <a:endParaRPr>
              <a:solidFill>
                <a:srgbClr val="1A1A1A"/>
              </a:solidFill>
            </a:endParaRPr>
          </a:p>
          <a:p>
            <a:pPr indent="0" lvl="0" marL="0" rtl="0" algn="l">
              <a:spcBef>
                <a:spcPts val="0"/>
              </a:spcBef>
              <a:spcAft>
                <a:spcPts val="0"/>
              </a:spcAft>
              <a:buNone/>
            </a:pPr>
            <a:r>
              <a:rPr lang="en">
                <a:solidFill>
                  <a:srgbClr val="1A1A1A"/>
                </a:solidFill>
              </a:rPr>
              <a:t>Build: ~320 ms on 50K rows, 2 dims</a:t>
            </a:r>
            <a:endParaRPr>
              <a:solidFill>
                <a:srgbClr val="1A1A1A"/>
              </a:solidFill>
            </a:endParaRPr>
          </a:p>
          <a:p>
            <a:pPr indent="0" lvl="0" marL="0" rtl="0" algn="l">
              <a:spcBef>
                <a:spcPts val="0"/>
              </a:spcBef>
              <a:spcAft>
                <a:spcPts val="0"/>
              </a:spcAft>
              <a:buNone/>
            </a:pPr>
            <a:r>
              <a:rPr lang="en">
                <a:solidFill>
                  <a:srgbClr val="1A1A1A"/>
                </a:solidFill>
              </a:rPr>
              <a:t>Range query: ~4 bucket reads on average</a:t>
            </a:r>
            <a:endParaRPr>
              <a:solidFill>
                <a:srgbClr val="1A1A1A"/>
              </a:solidFill>
            </a:endParaRPr>
          </a:p>
          <a:p>
            <a:pPr indent="0" lvl="0" marL="0" rtl="0" algn="l">
              <a:spcBef>
                <a:spcPts val="0"/>
              </a:spcBef>
              <a:spcAft>
                <a:spcPts val="0"/>
              </a:spcAft>
              <a:buNone/>
            </a:pPr>
            <a:r>
              <a:rPr lang="en">
                <a:solidFill>
                  <a:srgbClr val="1A1A1A"/>
                </a:solidFill>
              </a:rPr>
              <a:t>Cell selectivity: ~96%</a:t>
            </a:r>
            <a:endParaRPr>
              <a:solidFill>
                <a:srgbClr val="1A1A1A"/>
              </a:solidFill>
            </a:endParaRPr>
          </a:p>
          <a:p>
            <a:pPr indent="0" lvl="0" marL="0" rtl="0" algn="l">
              <a:spcBef>
                <a:spcPts val="0"/>
              </a:spcBef>
              <a:spcAft>
                <a:spcPts val="0"/>
              </a:spcAft>
              <a:buNone/>
            </a:pPr>
            <a:r>
              <a:rPr lang="en">
                <a:solidFill>
                  <a:srgbClr val="1A1A1A"/>
                </a:solidFill>
              </a:rPr>
              <a:t>Both indexes are disk-resident and survive restart.</a:t>
            </a:r>
            <a:endParaRPr>
              <a:solidFill>
                <a:srgbClr val="1A1A1A"/>
              </a:solidFill>
            </a:endParaRPr>
          </a:p>
          <a:p>
            <a:pPr indent="0" lvl="0" marL="0" rtl="0" algn="l">
              <a:spcBef>
                <a:spcPts val="0"/>
              </a:spcBef>
              <a:spcAft>
                <a:spcPts val="1200"/>
              </a:spcAft>
              <a:buNone/>
            </a:pPr>
            <a:r>
              <a:t/>
            </a:r>
            <a:endParaRPr b="1">
              <a:solidFill>
                <a:srgbClr val="002664"/>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9"/>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Query Processing, Rendering</a:t>
            </a:r>
            <a:endParaRPr/>
          </a:p>
        </p:txBody>
      </p:sp>
      <p:sp>
        <p:nvSpPr>
          <p:cNvPr id="172" name="Google Shape;172;p19"/>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00"/>
                </a:solidFill>
              </a:rPr>
              <a:t>Aggregation pushed down to DuckDB -- never pull raw rows to Python.</a:t>
            </a:r>
            <a:endParaRPr>
              <a:solidFill>
                <a:srgbClr val="000000"/>
              </a:solidFill>
            </a:endParaRPr>
          </a:p>
          <a:p>
            <a:pPr indent="0" lvl="0" marL="457200" rtl="0" algn="l">
              <a:spcBef>
                <a:spcPts val="600"/>
              </a:spcBef>
              <a:spcAft>
                <a:spcPts val="0"/>
              </a:spcAft>
              <a:buNone/>
            </a:pPr>
            <a:r>
              <a:rPr lang="en" sz="900">
                <a:solidFill>
                  <a:srgbClr val="000000"/>
                </a:solidFill>
              </a:rPr>
              <a:t>'revenue by region' becomes GROUP BY in SQL, returning ~10 rows.</a:t>
            </a:r>
            <a:endParaRPr sz="900">
              <a:solidFill>
                <a:srgbClr val="000000"/>
              </a:solidFill>
            </a:endParaRPr>
          </a:p>
          <a:p>
            <a:pPr indent="0" lvl="0" marL="0" rtl="0" algn="l">
              <a:spcBef>
                <a:spcPts val="600"/>
              </a:spcBef>
              <a:spcAft>
                <a:spcPts val="0"/>
              </a:spcAft>
              <a:buNone/>
            </a:pPr>
            <a:r>
              <a:rPr lang="en">
                <a:solidFill>
                  <a:srgbClr val="000000"/>
                </a:solidFill>
              </a:rPr>
              <a:t>Server-side binning for histograms (width_bucket), 100 bins default.</a:t>
            </a:r>
            <a:endParaRPr>
              <a:solidFill>
                <a:srgbClr val="000000"/>
              </a:solidFill>
            </a:endParaRPr>
          </a:p>
          <a:p>
            <a:pPr indent="0" lvl="0" marL="0" rtl="0" algn="l">
              <a:spcBef>
                <a:spcPts val="600"/>
              </a:spcBef>
              <a:spcAft>
                <a:spcPts val="0"/>
              </a:spcAft>
              <a:buNone/>
            </a:pPr>
            <a:r>
              <a:rPr lang="en">
                <a:solidFill>
                  <a:srgbClr val="000000"/>
                </a:solidFill>
              </a:rPr>
              <a:t>LRU query cache -- 64 entries, keyed on canonicalized SQL.</a:t>
            </a:r>
            <a:endParaRPr>
              <a:solidFill>
                <a:srgbClr val="000000"/>
              </a:solidFill>
            </a:endParaRPr>
          </a:p>
          <a:p>
            <a:pPr indent="0" lvl="0" marL="0" rtl="0" algn="l">
              <a:spcBef>
                <a:spcPts val="600"/>
              </a:spcBef>
              <a:spcAft>
                <a:spcPts val="0"/>
              </a:spcAft>
              <a:buNone/>
            </a:pPr>
            <a:r>
              <a:rPr lang="en">
                <a:solidFill>
                  <a:srgbClr val="000000"/>
                </a:solidFill>
              </a:rPr>
              <a:t>Level-of-detail rendering based on row count:</a:t>
            </a:r>
            <a:endParaRPr>
              <a:solidFill>
                <a:srgbClr val="000000"/>
              </a:solidFill>
            </a:endParaRPr>
          </a:p>
          <a:p>
            <a:pPr indent="0" lvl="0" marL="457200" rtl="0" algn="l">
              <a:spcBef>
                <a:spcPts val="600"/>
              </a:spcBef>
              <a:spcAft>
                <a:spcPts val="0"/>
              </a:spcAft>
              <a:buNone/>
            </a:pPr>
            <a:r>
              <a:rPr lang="en" sz="900">
                <a:solidFill>
                  <a:srgbClr val="000000"/>
                </a:solidFill>
              </a:rPr>
              <a:t>&lt;= 1,000 rows   -&gt;  Plotly SVG  (interactive, precise)</a:t>
            </a:r>
            <a:endParaRPr sz="900">
              <a:solidFill>
                <a:srgbClr val="000000"/>
              </a:solidFill>
            </a:endParaRPr>
          </a:p>
          <a:p>
            <a:pPr indent="0" lvl="0" marL="457200" rtl="0" algn="l">
              <a:spcBef>
                <a:spcPts val="600"/>
              </a:spcBef>
              <a:spcAft>
                <a:spcPts val="0"/>
              </a:spcAft>
              <a:buNone/>
            </a:pPr>
            <a:r>
              <a:rPr lang="en" sz="900">
                <a:solidFill>
                  <a:srgbClr val="000000"/>
                </a:solidFill>
              </a:rPr>
              <a:t>&gt;  1,000 rows   -&gt;  Plotly WebGL  (GPU-accelerated scatter)</a:t>
            </a:r>
            <a:endParaRPr sz="900">
              <a:solidFill>
                <a:srgbClr val="000000"/>
              </a:solidFill>
            </a:endParaRPr>
          </a:p>
          <a:p>
            <a:pPr indent="0" lvl="0" marL="457200" rtl="0" algn="l">
              <a:spcBef>
                <a:spcPts val="600"/>
              </a:spcBef>
              <a:spcAft>
                <a:spcPts val="0"/>
              </a:spcAft>
              <a:buNone/>
            </a:pPr>
            <a:r>
              <a:rPr lang="en" sz="900">
                <a:solidFill>
                  <a:srgbClr val="000000"/>
                </a:solidFill>
              </a:rPr>
              <a:t>&gt;  100,000 rows -&gt;  Datashader  (rasterized density map)</a:t>
            </a:r>
            <a:endParaRPr sz="900">
              <a:solidFill>
                <a:srgbClr val="000000"/>
              </a:solidFill>
            </a:endParaRPr>
          </a:p>
          <a:p>
            <a:pPr indent="0" lvl="0" marL="0" rtl="0" algn="l">
              <a:spcBef>
                <a:spcPts val="600"/>
              </a:spcBef>
              <a:spcAft>
                <a:spcPts val="0"/>
              </a:spcAft>
              <a:buNone/>
            </a:pPr>
            <a:r>
              <a:rPr lang="en">
                <a:solidFill>
                  <a:srgbClr val="000000"/>
                </a:solidFill>
              </a:rPr>
              <a:t>Arrow table handoff: zero-copy DuckDB -&gt; Plotly, no Python list conversion.</a:t>
            </a:r>
            <a:endParaRPr>
              <a:solidFill>
                <a:srgbClr val="000000"/>
              </a:solidFill>
            </a:endParaRPr>
          </a:p>
          <a:p>
            <a:pPr indent="0" lvl="0" marL="0" rtl="0" algn="l">
              <a:spcBef>
                <a:spcPts val="600"/>
              </a:spcBef>
              <a:spcAft>
                <a:spcPts val="1200"/>
              </a:spcAft>
              <a:buNone/>
            </a:pPr>
            <a:r>
              <a:t/>
            </a:r>
            <a:endParaRPr>
              <a:solidFill>
                <a:srgbClr val="000000"/>
              </a:solidFill>
            </a:endParaRPr>
          </a:p>
        </p:txBody>
      </p:sp>
      <p:sp>
        <p:nvSpPr>
          <p:cNvPr id="173" name="Google Shape;173;p19"/>
          <p:cNvSpPr txBox="1"/>
          <p:nvPr/>
        </p:nvSpPr>
        <p:spPr>
          <a:xfrm>
            <a:off x="819150" y="4438725"/>
            <a:ext cx="44328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300">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0"/>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Pipeline</a:t>
            </a:r>
            <a:endParaRPr/>
          </a:p>
        </p:txBody>
      </p:sp>
      <p:sp>
        <p:nvSpPr>
          <p:cNvPr id="179" name="Google Shape;179;p20"/>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00"/>
                </a:solidFill>
              </a:rPr>
              <a:t>Two-stage: refine the query, then generate a VizSpec.</a:t>
            </a:r>
            <a:endParaRPr>
              <a:solidFill>
                <a:srgbClr val="000000"/>
              </a:solidFill>
            </a:endParaRPr>
          </a:p>
          <a:p>
            <a:pPr indent="0" lvl="0" marL="0" rtl="0" algn="l">
              <a:spcBef>
                <a:spcPts val="600"/>
              </a:spcBef>
              <a:spcAft>
                <a:spcPts val="0"/>
              </a:spcAft>
              <a:buNone/>
            </a:pPr>
            <a:r>
              <a:rPr lang="en">
                <a:solidFill>
                  <a:srgbClr val="000000"/>
                </a:solidFill>
              </a:rPr>
              <a:t>LLM sees column names, types, cardinalities, sample values --</a:t>
            </a:r>
            <a:endParaRPr>
              <a:solidFill>
                <a:srgbClr val="000000"/>
              </a:solidFill>
            </a:endParaRPr>
          </a:p>
          <a:p>
            <a:pPr indent="0" lvl="0" marL="457200" rtl="0" algn="l">
              <a:spcBef>
                <a:spcPts val="600"/>
              </a:spcBef>
              <a:spcAft>
                <a:spcPts val="0"/>
              </a:spcAft>
              <a:buNone/>
            </a:pPr>
            <a:r>
              <a:rPr lang="en">
                <a:solidFill>
                  <a:srgbClr val="000000"/>
                </a:solidFill>
              </a:rPr>
              <a:t>never the actual data. That is what decouples it from dataset size.</a:t>
            </a:r>
            <a:endParaRPr>
              <a:solidFill>
                <a:srgbClr val="000000"/>
              </a:solidFill>
            </a:endParaRPr>
          </a:p>
          <a:p>
            <a:pPr indent="0" lvl="0" marL="0" rtl="0" algn="l">
              <a:spcBef>
                <a:spcPts val="600"/>
              </a:spcBef>
              <a:spcAft>
                <a:spcPts val="0"/>
              </a:spcAft>
              <a:buNone/>
            </a:pPr>
            <a:r>
              <a:rPr lang="en">
                <a:solidFill>
                  <a:srgbClr val="000000"/>
                </a:solidFill>
              </a:rPr>
              <a:t>Output is a typed JSON schema (chart_type, x, y, aggregation, filter).</a:t>
            </a:r>
            <a:endParaRPr>
              <a:solidFill>
                <a:srgbClr val="000000"/>
              </a:solidFill>
            </a:endParaRPr>
          </a:p>
          <a:p>
            <a:pPr indent="0" lvl="0" marL="457200" rtl="0" algn="l">
              <a:spcBef>
                <a:spcPts val="600"/>
              </a:spcBef>
              <a:spcAft>
                <a:spcPts val="0"/>
              </a:spcAft>
              <a:buNone/>
            </a:pPr>
            <a:r>
              <a:rPr lang="en">
                <a:solidFill>
                  <a:srgbClr val="000000"/>
                </a:solidFill>
              </a:rPr>
              <a:t>Deterministic translator converts VizSpec  -&gt;  parameterized SQL.</a:t>
            </a:r>
            <a:endParaRPr>
              <a:solidFill>
                <a:srgbClr val="000000"/>
              </a:solidFill>
            </a:endParaRPr>
          </a:p>
          <a:p>
            <a:pPr indent="0" lvl="0" marL="0" rtl="0" algn="l">
              <a:spcBef>
                <a:spcPts val="600"/>
              </a:spcBef>
              <a:spcAft>
                <a:spcPts val="0"/>
              </a:spcAft>
              <a:buNone/>
            </a:pPr>
            <a:r>
              <a:rPr lang="en">
                <a:solidFill>
                  <a:srgbClr val="000000"/>
                </a:solidFill>
              </a:rPr>
              <a:t>History window of 3 turns supports follow-ups ('now make it monthly').</a:t>
            </a:r>
            <a:endParaRPr>
              <a:solidFill>
                <a:srgbClr val="000000"/>
              </a:solidFill>
            </a:endParaRPr>
          </a:p>
          <a:p>
            <a:pPr indent="0" lvl="0" marL="0" rtl="0" algn="l">
              <a:spcBef>
                <a:spcPts val="600"/>
              </a:spcBef>
              <a:spcAft>
                <a:spcPts val="0"/>
              </a:spcAft>
              <a:buNone/>
            </a:pPr>
            <a:r>
              <a:rPr lang="en">
                <a:solidFill>
                  <a:srgbClr val="000000"/>
                </a:solidFill>
              </a:rPr>
              <a:t>Error log captures every failure + raw LLM output for self-healing later.</a:t>
            </a:r>
            <a:endParaRPr>
              <a:solidFill>
                <a:srgbClr val="000000"/>
              </a:solidFill>
            </a:endParaRPr>
          </a:p>
          <a:p>
            <a:pPr indent="0" lvl="0" marL="0" rtl="0" algn="l">
              <a:spcBef>
                <a:spcPts val="600"/>
              </a:spcBef>
              <a:spcAft>
                <a:spcPts val="1200"/>
              </a:spcAft>
              <a:buNone/>
            </a:pPr>
            <a:r>
              <a:t/>
            </a:r>
            <a:endParaRPr>
              <a:solidFill>
                <a:srgbClr val="000000"/>
              </a:solidFill>
            </a:endParaRPr>
          </a:p>
        </p:txBody>
      </p:sp>
      <p:sp>
        <p:nvSpPr>
          <p:cNvPr id="180" name="Google Shape;180;p20"/>
          <p:cNvSpPr txBox="1"/>
          <p:nvPr/>
        </p:nvSpPr>
        <p:spPr>
          <a:xfrm>
            <a:off x="819150" y="4438725"/>
            <a:ext cx="44328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300">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1"/>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GUI, File Uploading</a:t>
            </a:r>
            <a:endParaRPr/>
          </a:p>
        </p:txBody>
      </p:sp>
      <p:sp>
        <p:nvSpPr>
          <p:cNvPr id="186" name="Google Shape;186;p21"/>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00"/>
                </a:solidFill>
              </a:rPr>
              <a:t>Dash web app -- single-page, Bootstrap-styled.</a:t>
            </a:r>
            <a:endParaRPr>
              <a:solidFill>
                <a:srgbClr val="000000"/>
              </a:solidFill>
            </a:endParaRPr>
          </a:p>
          <a:p>
            <a:pPr indent="0" lvl="0" marL="0" rtl="0" algn="l">
              <a:spcBef>
                <a:spcPts val="600"/>
              </a:spcBef>
              <a:spcAft>
                <a:spcPts val="0"/>
              </a:spcAft>
              <a:buNone/>
            </a:pPr>
            <a:r>
              <a:rPr lang="en">
                <a:solidFill>
                  <a:srgbClr val="000000"/>
                </a:solidFill>
              </a:rPr>
              <a:t>Drag-and-drop upload accepts CSV, JSON, NDJSON, Parquet (up to 200 MB).</a:t>
            </a:r>
            <a:endParaRPr>
              <a:solidFill>
                <a:srgbClr val="000000"/>
              </a:solidFill>
            </a:endParaRPr>
          </a:p>
          <a:p>
            <a:pPr indent="0" lvl="0" marL="457200" rtl="0" algn="l">
              <a:spcBef>
                <a:spcPts val="600"/>
              </a:spcBef>
              <a:spcAft>
                <a:spcPts val="0"/>
              </a:spcAft>
              <a:buNone/>
            </a:pPr>
            <a:r>
              <a:rPr lang="en">
                <a:solidFill>
                  <a:srgbClr val="000000"/>
                </a:solidFill>
              </a:rPr>
              <a:t>File is routed through DuckDB read_json_auto / read_csv_auto,</a:t>
            </a:r>
            <a:endParaRPr>
              <a:solidFill>
                <a:srgbClr val="000000"/>
              </a:solidFill>
            </a:endParaRPr>
          </a:p>
          <a:p>
            <a:pPr indent="0" lvl="0" marL="457200" rtl="0" algn="l">
              <a:spcBef>
                <a:spcPts val="600"/>
              </a:spcBef>
              <a:spcAft>
                <a:spcPts val="0"/>
              </a:spcAft>
              <a:buNone/>
            </a:pPr>
            <a:r>
              <a:rPr lang="en">
                <a:solidFill>
                  <a:srgbClr val="000000"/>
                </a:solidFill>
              </a:rPr>
              <a:t>converted to Parquet, indexed, and made active in seconds.</a:t>
            </a:r>
            <a:endParaRPr>
              <a:solidFill>
                <a:srgbClr val="000000"/>
              </a:solidFill>
            </a:endParaRPr>
          </a:p>
          <a:p>
            <a:pPr indent="0" lvl="0" marL="0" rtl="0" algn="l">
              <a:spcBef>
                <a:spcPts val="600"/>
              </a:spcBef>
              <a:spcAft>
                <a:spcPts val="0"/>
              </a:spcAft>
              <a:buNone/>
            </a:pPr>
            <a:r>
              <a:rPr lang="en">
                <a:solidFill>
                  <a:srgbClr val="000000"/>
                </a:solidFill>
              </a:rPr>
              <a:t>Chart-type override dropdown -- 22 chart types supported.</a:t>
            </a:r>
            <a:endParaRPr>
              <a:solidFill>
                <a:srgbClr val="000000"/>
              </a:solidFill>
            </a:endParaRPr>
          </a:p>
          <a:p>
            <a:pPr indent="0" lvl="0" marL="0" rtl="0" algn="l">
              <a:spcBef>
                <a:spcPts val="600"/>
              </a:spcBef>
              <a:spcAft>
                <a:spcPts val="0"/>
              </a:spcAft>
              <a:buNone/>
            </a:pPr>
            <a:r>
              <a:rPr lang="en">
                <a:solidFill>
                  <a:srgbClr val="000000"/>
                </a:solidFill>
              </a:rPr>
              <a:t>SQL footer is always visible: every chart is reproducible and auditable.</a:t>
            </a:r>
            <a:endParaRPr>
              <a:solidFill>
                <a:srgbClr val="000000"/>
              </a:solidFill>
            </a:endParaRPr>
          </a:p>
          <a:p>
            <a:pPr indent="0" lvl="0" marL="0" rtl="0" algn="l">
              <a:spcBef>
                <a:spcPts val="600"/>
              </a:spcBef>
              <a:spcAft>
                <a:spcPts val="600"/>
              </a:spcAft>
              <a:buNone/>
            </a:pPr>
            <a:r>
              <a:rPr lang="en">
                <a:solidFill>
                  <a:srgbClr val="000000"/>
                </a:solidFill>
              </a:rPr>
              <a:t>Escape clears the query input; Enter submits.</a:t>
            </a:r>
            <a:endParaRPr>
              <a:solidFill>
                <a:srgbClr val="000000"/>
              </a:solidFill>
            </a:endParaRPr>
          </a:p>
        </p:txBody>
      </p:sp>
      <p:sp>
        <p:nvSpPr>
          <p:cNvPr id="187" name="Google Shape;187;p21"/>
          <p:cNvSpPr txBox="1"/>
          <p:nvPr/>
        </p:nvSpPr>
        <p:spPr>
          <a:xfrm>
            <a:off x="819150" y="4438725"/>
            <a:ext cx="44328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300">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2"/>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Experiment Setup</a:t>
            </a:r>
            <a:endParaRPr/>
          </a:p>
        </p:txBody>
      </p:sp>
      <p:sp>
        <p:nvSpPr>
          <p:cNvPr id="193" name="Google Shape;193;p22"/>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A1A1A"/>
                </a:solidFill>
              </a:rPr>
              <a:t>Hardware: consumer laptop, 16 GB RAM, no GPU for LLM (API-only).</a:t>
            </a:r>
            <a:endParaRPr>
              <a:solidFill>
                <a:srgbClr val="1A1A1A"/>
              </a:solidFill>
            </a:endParaRPr>
          </a:p>
          <a:p>
            <a:pPr indent="0" lvl="0" marL="0" rtl="0" algn="l">
              <a:spcBef>
                <a:spcPts val="600"/>
              </a:spcBef>
              <a:spcAft>
                <a:spcPts val="0"/>
              </a:spcAft>
              <a:buNone/>
            </a:pPr>
            <a:r>
              <a:rPr lang="en">
                <a:solidFill>
                  <a:srgbClr val="1A1A1A"/>
                </a:solidFill>
              </a:rPr>
              <a:t>Datasets: synthetic 50K-row sales table (9 columns, mixed types).</a:t>
            </a:r>
            <a:endParaRPr>
              <a:solidFill>
                <a:srgbClr val="1A1A1A"/>
              </a:solidFill>
            </a:endParaRPr>
          </a:p>
          <a:p>
            <a:pPr indent="0" lvl="0" marL="0" rtl="0" algn="l">
              <a:spcBef>
                <a:spcPts val="600"/>
              </a:spcBef>
              <a:spcAft>
                <a:spcPts val="0"/>
              </a:spcAft>
              <a:buNone/>
            </a:pPr>
            <a:r>
              <a:rPr lang="en">
                <a:solidFill>
                  <a:srgbClr val="1A1A1A"/>
                </a:solidFill>
              </a:rPr>
              <a:t>Test suite: 72 automated pytest cases, 2.3s total runtime.</a:t>
            </a:r>
            <a:endParaRPr>
              <a:solidFill>
                <a:srgbClr val="1A1A1A"/>
              </a:solidFill>
            </a:endParaRPr>
          </a:p>
          <a:p>
            <a:pPr indent="0" lvl="0" marL="0" rtl="0" algn="l">
              <a:spcBef>
                <a:spcPts val="600"/>
              </a:spcBef>
              <a:spcAft>
                <a:spcPts val="0"/>
              </a:spcAft>
              <a:buNone/>
            </a:pPr>
            <a:r>
              <a:rPr lang="en">
                <a:solidFill>
                  <a:srgbClr val="1A1A1A"/>
                </a:solidFill>
              </a:rPr>
              <a:t>Prompt evaluation protocol:</a:t>
            </a:r>
            <a:endParaRPr>
              <a:solidFill>
                <a:srgbClr val="1A1A1A"/>
              </a:solidFill>
            </a:endParaRPr>
          </a:p>
          <a:p>
            <a:pPr indent="0" lvl="0" marL="457200" rtl="0" algn="l">
              <a:spcBef>
                <a:spcPts val="600"/>
              </a:spcBef>
              <a:spcAft>
                <a:spcPts val="0"/>
              </a:spcAft>
              <a:buNone/>
            </a:pPr>
            <a:r>
              <a:rPr lang="en" sz="900">
                <a:solidFill>
                  <a:srgbClr val="000000"/>
                </a:solidFill>
              </a:rPr>
              <a:t>50 natural-language prompts per data size</a:t>
            </a:r>
            <a:endParaRPr sz="900">
              <a:solidFill>
                <a:srgbClr val="000000"/>
              </a:solidFill>
            </a:endParaRPr>
          </a:p>
          <a:p>
            <a:pPr indent="0" lvl="0" marL="457200" rtl="0" algn="l">
              <a:spcBef>
                <a:spcPts val="600"/>
              </a:spcBef>
              <a:spcAft>
                <a:spcPts val="0"/>
              </a:spcAft>
              <a:buNone/>
            </a:pPr>
            <a:r>
              <a:rPr lang="en" sz="900">
                <a:solidFill>
                  <a:srgbClr val="000000"/>
                </a:solidFill>
              </a:rPr>
              <a:t>Scored on chart produced, accuracy, and wall time &lt;= 5 s</a:t>
            </a:r>
            <a:endParaRPr sz="900">
              <a:solidFill>
                <a:srgbClr val="000000"/>
              </a:solidFill>
            </a:endParaRPr>
          </a:p>
          <a:p>
            <a:pPr indent="0" lvl="0" marL="457200" rtl="0" algn="l">
              <a:spcBef>
                <a:spcPts val="600"/>
              </a:spcBef>
              <a:spcAft>
                <a:spcPts val="600"/>
              </a:spcAft>
              <a:buNone/>
            </a:pPr>
            <a:r>
              <a:rPr lang="en" sz="900">
                <a:solidFill>
                  <a:srgbClr val="000000"/>
                </a:solidFill>
              </a:rPr>
              <a:t>Separate measurement for index build time and memory footprint</a:t>
            </a:r>
            <a:endParaRPr sz="900">
              <a:solidFill>
                <a:srgbClr val="000000"/>
              </a:solidFill>
            </a:endParaRPr>
          </a:p>
        </p:txBody>
      </p:sp>
      <p:sp>
        <p:nvSpPr>
          <p:cNvPr id="194" name="Google Shape;194;p22"/>
          <p:cNvSpPr txBox="1"/>
          <p:nvPr/>
        </p:nvSpPr>
        <p:spPr>
          <a:xfrm>
            <a:off x="819150" y="4438725"/>
            <a:ext cx="44328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300">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3"/>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Performance</a:t>
            </a:r>
            <a:endParaRPr/>
          </a:p>
        </p:txBody>
      </p:sp>
      <p:sp>
        <p:nvSpPr>
          <p:cNvPr id="200" name="Google Shape;200;p23"/>
          <p:cNvSpPr txBox="1"/>
          <p:nvPr/>
        </p:nvSpPr>
        <p:spPr>
          <a:xfrm>
            <a:off x="819150" y="4438725"/>
            <a:ext cx="44328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300">
              <a:latin typeface="Calibri"/>
              <a:ea typeface="Calibri"/>
              <a:cs typeface="Calibri"/>
              <a:sym typeface="Calibri"/>
            </a:endParaRPr>
          </a:p>
        </p:txBody>
      </p:sp>
      <p:pic>
        <p:nvPicPr>
          <p:cNvPr id="201" name="Google Shape;201;p23"/>
          <p:cNvPicPr preferRelativeResize="0"/>
          <p:nvPr/>
        </p:nvPicPr>
        <p:blipFill>
          <a:blip r:embed="rId3">
            <a:alphaModFix/>
          </a:blip>
          <a:stretch>
            <a:fillRect/>
          </a:stretch>
        </p:blipFill>
        <p:spPr>
          <a:xfrm>
            <a:off x="3239158" y="845600"/>
            <a:ext cx="5085693" cy="359312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Prompt to Visual Accuracy</a:t>
            </a:r>
            <a:endParaRPr/>
          </a:p>
        </p:txBody>
      </p:sp>
      <p:sp>
        <p:nvSpPr>
          <p:cNvPr id="207" name="Google Shape;207;p24"/>
          <p:cNvSpPr txBox="1"/>
          <p:nvPr/>
        </p:nvSpPr>
        <p:spPr>
          <a:xfrm>
            <a:off x="819150" y="4438725"/>
            <a:ext cx="44328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300">
              <a:latin typeface="Calibri"/>
              <a:ea typeface="Calibri"/>
              <a:cs typeface="Calibri"/>
              <a:sym typeface="Calibri"/>
            </a:endParaRPr>
          </a:p>
        </p:txBody>
      </p:sp>
      <p:pic>
        <p:nvPicPr>
          <p:cNvPr id="208" name="Google Shape;208;p24"/>
          <p:cNvPicPr preferRelativeResize="0"/>
          <p:nvPr/>
        </p:nvPicPr>
        <p:blipFill>
          <a:blip r:embed="rId3">
            <a:alphaModFix/>
          </a:blip>
          <a:stretch>
            <a:fillRect/>
          </a:stretch>
        </p:blipFill>
        <p:spPr>
          <a:xfrm>
            <a:off x="1285078" y="1990725"/>
            <a:ext cx="6573843" cy="2448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Prompt to Visual Accuracy</a:t>
            </a:r>
            <a:endParaRPr/>
          </a:p>
        </p:txBody>
      </p:sp>
      <p:sp>
        <p:nvSpPr>
          <p:cNvPr id="214" name="Google Shape;214;p25"/>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000000"/>
                </a:solidFill>
              </a:rPr>
              <a:t>Key observations:</a:t>
            </a:r>
            <a:endParaRPr b="1">
              <a:solidFill>
                <a:srgbClr val="000000"/>
              </a:solidFill>
            </a:endParaRPr>
          </a:p>
          <a:p>
            <a:pPr indent="0" lvl="0" marL="0" rtl="0" algn="l">
              <a:spcBef>
                <a:spcPts val="0"/>
              </a:spcBef>
              <a:spcAft>
                <a:spcPts val="0"/>
              </a:spcAft>
              <a:buNone/>
            </a:pPr>
            <a:r>
              <a:rPr lang="en">
                <a:solidFill>
                  <a:srgbClr val="000000"/>
                </a:solidFill>
              </a:rPr>
              <a:t>-- All 4 inaccurate charts were the same chart type -- a narrow JSON-return defect, not a systemic issue.</a:t>
            </a:r>
            <a:endParaRPr>
              <a:solidFill>
                <a:srgbClr val="000000"/>
              </a:solidFill>
            </a:endParaRPr>
          </a:p>
          <a:p>
            <a:pPr indent="0" lvl="0" marL="0" rtl="0" algn="l">
              <a:spcBef>
                <a:spcPts val="0"/>
              </a:spcBef>
              <a:spcAft>
                <a:spcPts val="0"/>
              </a:spcAft>
              <a:buNone/>
            </a:pPr>
            <a:r>
              <a:rPr lang="en">
                <a:solidFill>
                  <a:srgbClr val="000000"/>
                </a:solidFill>
              </a:rPr>
              <a:t>-- All 3 over-budget renders finished within 0.5 s of the 5 s threshold; attributed to remote-LLM variance.</a:t>
            </a:r>
            <a:endParaRPr>
              <a:solidFill>
                <a:srgbClr val="000000"/>
              </a:solidFill>
            </a:endParaRPr>
          </a:p>
          <a:p>
            <a:pPr indent="0" lvl="0" marL="0" rtl="0" algn="l">
              <a:spcBef>
                <a:spcPts val="0"/>
              </a:spcBef>
              <a:spcAft>
                <a:spcPts val="0"/>
              </a:spcAft>
              <a:buNone/>
            </a:pPr>
            <a:r>
              <a:rPr lang="en">
                <a:solidFill>
                  <a:srgbClr val="000000"/>
                </a:solidFill>
              </a:rPr>
              <a:t>-- Fixing the single JSON branch lifts precision to ~1.00 and F1 to ~0.96.</a:t>
            </a:r>
            <a:endParaRPr>
              <a:solidFill>
                <a:srgbClr val="000000"/>
              </a:solidFill>
            </a:endParaRPr>
          </a:p>
          <a:p>
            <a:pPr indent="0" lvl="0" marL="0" rtl="0" algn="l">
              <a:spcBef>
                <a:spcPts val="0"/>
              </a:spcBef>
              <a:spcAft>
                <a:spcPts val="600"/>
              </a:spcAft>
              <a:buNone/>
            </a:pPr>
            <a:r>
              <a:t/>
            </a:r>
            <a:endParaRPr>
              <a:solidFill>
                <a:srgbClr val="000000"/>
              </a:solidFill>
            </a:endParaRPr>
          </a:p>
        </p:txBody>
      </p:sp>
      <p:sp>
        <p:nvSpPr>
          <p:cNvPr id="215" name="Google Shape;215;p25"/>
          <p:cNvSpPr txBox="1"/>
          <p:nvPr/>
        </p:nvSpPr>
        <p:spPr>
          <a:xfrm>
            <a:off x="819150" y="4438725"/>
            <a:ext cx="44328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300">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Limitations, Future Work</a:t>
            </a:r>
            <a:endParaRPr/>
          </a:p>
        </p:txBody>
      </p:sp>
      <p:sp>
        <p:nvSpPr>
          <p:cNvPr id="221" name="Google Shape;221;p26"/>
          <p:cNvSpPr txBox="1"/>
          <p:nvPr>
            <p:ph idx="1" type="body"/>
          </p:nvPr>
        </p:nvSpPr>
        <p:spPr>
          <a:xfrm>
            <a:off x="819150" y="1990725"/>
            <a:ext cx="3753000" cy="244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000000"/>
                </a:solidFill>
              </a:rPr>
              <a:t>Limitations</a:t>
            </a:r>
            <a:endParaRPr b="1">
              <a:solidFill>
                <a:srgbClr val="000000"/>
              </a:solidFill>
            </a:endParaRPr>
          </a:p>
          <a:p>
            <a:pPr indent="0" lvl="0" marL="0" rtl="0" algn="l">
              <a:spcBef>
                <a:spcPts val="0"/>
              </a:spcBef>
              <a:spcAft>
                <a:spcPts val="0"/>
              </a:spcAft>
              <a:buNone/>
            </a:pPr>
            <a:r>
              <a:rPr lang="en">
                <a:solidFill>
                  <a:srgbClr val="000000"/>
                </a:solidFill>
              </a:rPr>
              <a:t>-- Single table only -- no multi-table JOINs yet.</a:t>
            </a:r>
            <a:endParaRPr>
              <a:solidFill>
                <a:srgbClr val="000000"/>
              </a:solidFill>
            </a:endParaRPr>
          </a:p>
          <a:p>
            <a:pPr indent="0" lvl="0" marL="0" rtl="0" algn="l">
              <a:spcBef>
                <a:spcPts val="0"/>
              </a:spcBef>
              <a:spcAft>
                <a:spcPts val="0"/>
              </a:spcAft>
              <a:buNone/>
            </a:pPr>
            <a:r>
              <a:rPr lang="en">
                <a:solidFill>
                  <a:srgbClr val="000000"/>
                </a:solidFill>
              </a:rPr>
              <a:t>-- Single-user by design (module-level state).</a:t>
            </a:r>
            <a:endParaRPr>
              <a:solidFill>
                <a:srgbClr val="000000"/>
              </a:solidFill>
            </a:endParaRPr>
          </a:p>
          <a:p>
            <a:pPr indent="0" lvl="0" marL="0" rtl="0" algn="l">
              <a:spcBef>
                <a:spcPts val="0"/>
              </a:spcBef>
              <a:spcAft>
                <a:spcPts val="0"/>
              </a:spcAft>
              <a:buNone/>
            </a:pPr>
            <a:r>
              <a:rPr lang="en">
                <a:solidFill>
                  <a:srgbClr val="000000"/>
                </a:solidFill>
              </a:rPr>
              <a:t>-- LLM latency dominates (~95% of total time).</a:t>
            </a:r>
            <a:endParaRPr>
              <a:solidFill>
                <a:srgbClr val="000000"/>
              </a:solidFill>
            </a:endParaRPr>
          </a:p>
          <a:p>
            <a:pPr indent="0" lvl="0" marL="0" rtl="0" algn="l">
              <a:spcBef>
                <a:spcPts val="0"/>
              </a:spcBef>
              <a:spcAft>
                <a:spcPts val="0"/>
              </a:spcAft>
              <a:buNone/>
            </a:pPr>
            <a:r>
              <a:rPr lang="en">
                <a:solidFill>
                  <a:srgbClr val="000000"/>
                </a:solidFill>
              </a:rPr>
              <a:t>-- Upload path holds file in browser RAM (200 MB cap).</a:t>
            </a:r>
            <a:endParaRPr>
              <a:solidFill>
                <a:srgbClr val="000000"/>
              </a:solidFill>
            </a:endParaRPr>
          </a:p>
          <a:p>
            <a:pPr indent="0" lvl="0" marL="0" rtl="0" algn="l">
              <a:spcBef>
                <a:spcPts val="0"/>
              </a:spcBef>
              <a:spcAft>
                <a:spcPts val="600"/>
              </a:spcAft>
              <a:buNone/>
            </a:pPr>
            <a:r>
              <a:t/>
            </a:r>
            <a:endParaRPr>
              <a:solidFill>
                <a:srgbClr val="000000"/>
              </a:solidFill>
            </a:endParaRPr>
          </a:p>
        </p:txBody>
      </p:sp>
      <p:sp>
        <p:nvSpPr>
          <p:cNvPr id="222" name="Google Shape;222;p26"/>
          <p:cNvSpPr txBox="1"/>
          <p:nvPr/>
        </p:nvSpPr>
        <p:spPr>
          <a:xfrm>
            <a:off x="819150" y="4438725"/>
            <a:ext cx="44328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300">
              <a:latin typeface="Calibri"/>
              <a:ea typeface="Calibri"/>
              <a:cs typeface="Calibri"/>
              <a:sym typeface="Calibri"/>
            </a:endParaRPr>
          </a:p>
        </p:txBody>
      </p:sp>
      <p:sp>
        <p:nvSpPr>
          <p:cNvPr id="223" name="Google Shape;223;p26"/>
          <p:cNvSpPr txBox="1"/>
          <p:nvPr>
            <p:ph idx="1" type="body"/>
          </p:nvPr>
        </p:nvSpPr>
        <p:spPr>
          <a:xfrm>
            <a:off x="4572150" y="1990725"/>
            <a:ext cx="3753000" cy="244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000000"/>
                </a:solidFill>
              </a:rPr>
              <a:t>Future Work</a:t>
            </a:r>
            <a:endParaRPr b="1">
              <a:solidFill>
                <a:srgbClr val="000000"/>
              </a:solidFill>
            </a:endParaRPr>
          </a:p>
          <a:p>
            <a:pPr indent="0" lvl="0" marL="0" rtl="0" algn="l">
              <a:spcBef>
                <a:spcPts val="0"/>
              </a:spcBef>
              <a:spcAft>
                <a:spcPts val="0"/>
              </a:spcAft>
              <a:buNone/>
            </a:pPr>
            <a:r>
              <a:rPr lang="en">
                <a:solidFill>
                  <a:srgbClr val="000000"/>
                </a:solidFill>
              </a:rPr>
              <a:t>-- Multi-table JOIN support via INFORMATION_SCHEMA FK discovery.</a:t>
            </a:r>
            <a:endParaRPr>
              <a:solidFill>
                <a:srgbClr val="000000"/>
              </a:solidFill>
            </a:endParaRPr>
          </a:p>
          <a:p>
            <a:pPr indent="0" lvl="0" marL="0" rtl="0" algn="l">
              <a:spcBef>
                <a:spcPts val="0"/>
              </a:spcBef>
              <a:spcAft>
                <a:spcPts val="0"/>
              </a:spcAft>
              <a:buNone/>
            </a:pPr>
            <a:r>
              <a:rPr lang="en">
                <a:solidFill>
                  <a:srgbClr val="000000"/>
                </a:solidFill>
              </a:rPr>
              <a:t>-- Per-session state for multi-user deployment (Redis).</a:t>
            </a:r>
            <a:endParaRPr>
              <a:solidFill>
                <a:srgbClr val="000000"/>
              </a:solidFill>
            </a:endParaRPr>
          </a:p>
          <a:p>
            <a:pPr indent="0" lvl="0" marL="0" rtl="0" algn="l">
              <a:spcBef>
                <a:spcPts val="0"/>
              </a:spcBef>
              <a:spcAft>
                <a:spcPts val="0"/>
              </a:spcAft>
              <a:buNone/>
            </a:pPr>
            <a:r>
              <a:rPr lang="en">
                <a:solidFill>
                  <a:srgbClr val="000000"/>
                </a:solidFill>
              </a:rPr>
              <a:t>-- Self-healing: mine error log to propose prompt improvements.</a:t>
            </a:r>
            <a:endParaRPr>
              <a:solidFill>
                <a:srgbClr val="000000"/>
              </a:solidFill>
            </a:endParaRPr>
          </a:p>
          <a:p>
            <a:pPr indent="0" lvl="0" marL="0" rtl="0" algn="l">
              <a:spcBef>
                <a:spcPts val="0"/>
              </a:spcBef>
              <a:spcAft>
                <a:spcPts val="0"/>
              </a:spcAft>
              <a:buNone/>
            </a:pPr>
            <a:r>
              <a:rPr lang="en">
                <a:solidFill>
                  <a:srgbClr val="000000"/>
                </a:solidFill>
              </a:rPr>
              <a:t>-- Streaming ingestion for append-only log files.</a:t>
            </a:r>
            <a:endParaRPr>
              <a:solidFill>
                <a:srgbClr val="000000"/>
              </a:solidFill>
            </a:endParaRPr>
          </a:p>
          <a:p>
            <a:pPr indent="0" lvl="0" marL="0" rtl="0" algn="l">
              <a:spcBef>
                <a:spcPts val="0"/>
              </a:spcBef>
              <a:spcAft>
                <a:spcPts val="0"/>
              </a:spcAft>
              <a:buNone/>
            </a:pPr>
            <a:r>
              <a:rPr lang="en">
                <a:solidFill>
                  <a:srgbClr val="000000"/>
                </a:solidFill>
              </a:rPr>
              <a:t>-- Geographic chart types (choropleth, scattermapbox).</a:t>
            </a:r>
            <a:endParaRPr>
              <a:solidFill>
                <a:srgbClr val="000000"/>
              </a:solidFill>
            </a:endParaRPr>
          </a:p>
          <a:p>
            <a:pPr indent="0" lvl="0" marL="0" rtl="0" algn="l">
              <a:spcBef>
                <a:spcPts val="0"/>
              </a:spcBef>
              <a:spcAft>
                <a:spcPts val="600"/>
              </a:spcAft>
              <a:buNone/>
            </a:pPr>
            <a:r>
              <a:t/>
            </a:r>
            <a:endParaRPr>
              <a:solidFill>
                <a:srgbClr val="00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7"/>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Questions?!</a:t>
            </a:r>
            <a:endParaRPr/>
          </a:p>
        </p:txBody>
      </p:sp>
      <p:sp>
        <p:nvSpPr>
          <p:cNvPr id="229" name="Google Shape;229;p27"/>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00"/>
                </a:solidFill>
              </a:rPr>
              <a:t>If not, thank you for viewing!</a:t>
            </a:r>
            <a:endParaRPr>
              <a:solidFill>
                <a:srgbClr val="000000"/>
              </a:solidFill>
            </a:endParaRPr>
          </a:p>
          <a:p>
            <a:pPr indent="0" lvl="0" marL="0" rtl="0" algn="l">
              <a:spcBef>
                <a:spcPts val="600"/>
              </a:spcBef>
              <a:spcAft>
                <a:spcPts val="0"/>
              </a:spcAft>
              <a:buNone/>
            </a:pPr>
            <a:r>
              <a:t/>
            </a:r>
            <a:endParaRPr>
              <a:solidFill>
                <a:srgbClr val="000000"/>
              </a:solidFill>
            </a:endParaRPr>
          </a:p>
          <a:p>
            <a:pPr indent="0" lvl="0" marL="0" rtl="0" algn="l">
              <a:spcBef>
                <a:spcPts val="600"/>
              </a:spcBef>
              <a:spcAft>
                <a:spcPts val="600"/>
              </a:spcAft>
              <a:buNone/>
            </a:pPr>
            <a:r>
              <a:rPr lang="en">
                <a:solidFill>
                  <a:srgbClr val="000000"/>
                </a:solidFill>
              </a:rPr>
              <a:t>LAVA -  LLM Assisted Visual Analytics</a:t>
            </a:r>
            <a:br>
              <a:rPr lang="en">
                <a:solidFill>
                  <a:srgbClr val="000000"/>
                </a:solidFill>
              </a:rPr>
            </a:br>
            <a:r>
              <a:rPr lang="en">
                <a:solidFill>
                  <a:srgbClr val="000000"/>
                </a:solidFill>
              </a:rPr>
              <a:t>Presented by Joseph Demore</a:t>
            </a:r>
            <a:br>
              <a:rPr lang="en">
                <a:solidFill>
                  <a:srgbClr val="000000"/>
                </a:solidFill>
              </a:rPr>
            </a:br>
            <a:r>
              <a:rPr lang="en">
                <a:solidFill>
                  <a:srgbClr val="000000"/>
                </a:solidFill>
              </a:rPr>
              <a:t>Kent State University</a:t>
            </a:r>
            <a:endParaRPr>
              <a:solidFill>
                <a:srgbClr val="000000"/>
              </a:solidFill>
            </a:endParaRPr>
          </a:p>
        </p:txBody>
      </p:sp>
      <p:sp>
        <p:nvSpPr>
          <p:cNvPr id="230" name="Google Shape;230;p27"/>
          <p:cNvSpPr txBox="1"/>
          <p:nvPr/>
        </p:nvSpPr>
        <p:spPr>
          <a:xfrm>
            <a:off x="819150" y="4438725"/>
            <a:ext cx="44328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300">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